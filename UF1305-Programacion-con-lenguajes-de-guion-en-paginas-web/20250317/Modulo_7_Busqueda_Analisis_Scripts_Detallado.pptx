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11"/>
  </p:notesMasterIdLst>
  <p:sldIdLst>
    <p:sldId id="256" r:id="rId2"/>
    <p:sldId id="257" r:id="rId3"/>
    <p:sldId id="261" r:id="rId4"/>
    <p:sldId id="262" r:id="rId5"/>
    <p:sldId id="263" r:id="rId6"/>
    <p:sldId id="264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1B4F91-6D65-E929-F429-D35B5F4DB9AC}" v="59" dt="2025-02-16T12:35:48.0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A75B83-A034-4C01-BD10-E1205E810813}" type="datetimeFigureOut">
              <a:t>26/02/2025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495766-B14F-4748-8AF0-612120CB147D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7286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Enseñar a evaluar la calidad de los scripts encontrados en línea.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52FB6-2B87-4FBB-F9EB-1D0B8CAFC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C072C5-C045-3892-1707-D01B7DFADE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325207-EFC9-39F5-C92D-CC90DA020D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Enseñar a evaluar la calidad de los scripts encontrados en línea.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89C3D-2507-66D6-E869-47239973CB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22090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58A72-8B6E-E3D8-C239-9E38AA918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85A5EC-FBC9-0BAE-1BDB-D2CB719D5C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21609E-DCFA-BDC6-A149-092AF66086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Enseñar a evaluar la calidad de los scripts encontrados en línea.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B656CA-2865-2D9C-8E24-6F6D520D35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68707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DDF07-3606-FC5B-AB66-E95EC3E85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34A64-2723-B008-01F5-0C06EEF8D5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025BC5-7D8B-B916-6C20-56F78BE36F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Enseñar a evaluar la calidad de los scripts encontrados en línea.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1CE12-59D4-B888-C488-95F6DD0CD9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56221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A4CBF-AC51-F435-A512-F5256AEE6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9D3997-9405-9DE8-8C1C-281DC6F9A0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41AD8C-C4AD-7724-8684-11BBDF5D9A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Enseñar a evaluar la calidad de los scripts encontrados en línea.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536F0-9161-1F58-84DF-A9655F2F5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36645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Pedir a los alumnos buscar y comparar varios 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Asignar tareas de modificación de scripts encontrados.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Proporcionar repositorios y recursos de calidad para búsquedas.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192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92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928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158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17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283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0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632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676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504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796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088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5017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698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4329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6415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584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701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" TargetMode="External"/><Relationship Id="rId4" Type="http://schemas.openxmlformats.org/officeDocument/2006/relationships/hyperlink" Target="https://www.w3schools.com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webdelprogramador.com/index.php#:~:text=La%20Web%20del%20programador%3A%20Comunidad,de%20Programadore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s.stackoverflow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forum.freecodecamp.org/t/acerca-del-foro-javascript/426278#:~:text=Haz%20preguntas%20sobre%20JavaScript%20y,con%20la%20programaci%C3%B3n%20en%20espa%C3%B1o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itepoint.com/community/" TargetMode="External"/><Relationship Id="rId4" Type="http://schemas.openxmlformats.org/officeDocument/2006/relationships/hyperlink" Target="https://www.reddit.com/r/programming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ñadir la muestra de ADN a una placa de Petri">
            <a:extLst>
              <a:ext uri="{FF2B5EF4-FFF2-40B4-BE49-F238E27FC236}">
                <a16:creationId xmlns:a16="http://schemas.microsoft.com/office/drawing/2014/main" id="{BC9CBD0C-DDB5-1C48-4364-FFF33371E43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25000" r="-2" b="-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>
            <a:normAutofit/>
          </a:bodyPr>
          <a:lstStyle/>
          <a:p>
            <a:r>
              <a:t>Módulo 7: Búsqueda y Análisis de Scripts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>
            <a:normAutofit/>
          </a:bodyPr>
          <a:lstStyle/>
          <a:p>
            <a:r>
              <a:rPr dirty="0" err="1"/>
              <a:t>Curso</a:t>
            </a:r>
            <a:r>
              <a:rPr dirty="0"/>
              <a:t> de </a:t>
            </a:r>
            <a:r>
              <a:rPr dirty="0" err="1"/>
              <a:t>Integración</a:t>
            </a:r>
            <a:r>
              <a:rPr dirty="0"/>
              <a:t> de Componentes Software Web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A3EF779-83DD-4EB0-9F4C-7304381A2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772C8C0C-10E0-4305-95B6-F0A11F0AD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rgbClr val="30ACEC"/>
            </a:solidFill>
            <a:ln>
              <a:noFill/>
            </a:ln>
          </p:spPr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ED6F480D-2F2A-4E97-B196-39B35C4BF8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ysClr val="windowText" lastClr="000000">
                <a:lumMod val="65000"/>
                <a:lumOff val="35000"/>
              </a:sysClr>
            </a:solidFill>
            <a:ln>
              <a:noFill/>
            </a:ln>
          </p:spPr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5ACA5CB-4926-4AA1-8B0D-0A8C294D3A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Text" lastClr="000000">
                <a:lumMod val="85000"/>
                <a:lumOff val="15000"/>
              </a:sysClr>
            </a:solidFill>
            <a:ln>
              <a:noFill/>
            </a:ln>
          </p:spPr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1FC1EC6E-AED1-4539-B157-052264991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30ACEC">
                <a:lumMod val="50000"/>
              </a:srgbClr>
            </a:solidFill>
            <a:ln>
              <a:noFill/>
            </a:ln>
          </p:spPr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F5C22045-92BD-4CA1-A655-5ADD00283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ACEC">
                <a:lumMod val="75000"/>
              </a:srgbClr>
            </a:solidFill>
            <a:ln>
              <a:noFill/>
            </a:ln>
          </p:spPr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F130A56D-449A-4985-94CD-B749D51FF8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ysClr val="windowText" lastClr="000000">
                <a:lumMod val="75000"/>
                <a:lumOff val="25000"/>
              </a:sysClr>
            </a:solidFill>
            <a:ln>
              <a:noFill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Recursos para Scripting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Fuentes para scripts:</a:t>
            </a:r>
          </a:p>
          <a:p>
            <a:pPr lvl="1">
              <a:buFont typeface="Courier New"/>
              <a:buChar char="o"/>
            </a:pPr>
            <a:r>
              <a:rPr dirty="0">
                <a:hlinkClick r:id="rId3"/>
              </a:rPr>
              <a:t>MDN Web Docs</a:t>
            </a:r>
            <a:r>
              <a:rPr dirty="0"/>
              <a:t>.</a:t>
            </a:r>
          </a:p>
          <a:p>
            <a:pPr lvl="1">
              <a:buFont typeface="Courier New"/>
              <a:buChar char="o"/>
            </a:pPr>
            <a:r>
              <a:rPr dirty="0">
                <a:hlinkClick r:id="rId4"/>
              </a:rPr>
              <a:t>W3Schools</a:t>
            </a:r>
            <a:r>
              <a:rPr dirty="0"/>
              <a:t>.</a:t>
            </a:r>
          </a:p>
          <a:p>
            <a:pPr lvl="1">
              <a:buFont typeface="Courier New"/>
              <a:buChar char="o"/>
            </a:pPr>
            <a:r>
              <a:rPr dirty="0">
                <a:hlinkClick r:id="rId5"/>
              </a:rPr>
              <a:t>GitHub</a:t>
            </a:r>
            <a:r>
              <a:rPr dirty="0"/>
              <a:t>.</a:t>
            </a:r>
          </a:p>
          <a:p>
            <a:pPr lvl="1">
              <a:buFont typeface="Courier New"/>
              <a:buChar char="o"/>
            </a:pPr>
            <a:r>
              <a:rPr dirty="0" err="1"/>
              <a:t>Foros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Stack Overflow.</a:t>
            </a:r>
          </a:p>
          <a:p>
            <a:r>
              <a:rPr dirty="0" err="1"/>
              <a:t>Ejemplo</a:t>
            </a:r>
            <a:r>
              <a:rPr dirty="0"/>
              <a:t>: </a:t>
            </a:r>
            <a:r>
              <a:rPr dirty="0" err="1"/>
              <a:t>Buscar</a:t>
            </a:r>
            <a:r>
              <a:rPr dirty="0"/>
              <a:t> 'JavaScript countdown timer MDN'.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93477" y="6013938"/>
            <a:ext cx="7315200" cy="615553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sz="1800" dirty="0" err="1"/>
              <a:t>Ejemplos</a:t>
            </a:r>
            <a:r>
              <a:rPr sz="1800" dirty="0"/>
              <a:t>:</a:t>
            </a:r>
          </a:p>
          <a:p>
            <a:pPr lvl="1">
              <a:defRPr sz="1600"/>
            </a:pPr>
            <a:r>
              <a:rPr sz="1600" dirty="0"/>
              <a:t>https://developer.mozilla.org/es/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F17BE-735F-E3D5-B488-0E730F1B5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3C82E-9B51-93F2-3DA7-210C240CB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Foros en español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05185-1F7D-2678-0FA4-2FD733592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/>
              <a:t>La Web del Programador</a:t>
            </a:r>
            <a:r>
              <a:rPr lang="es-ES" dirty="0"/>
              <a:t> – Comunidad de programadores en español, diseñada para que tanto aficionados como profesionales compartan conocimientos, resuelvan dudas o publiquen sus creaciones​ </a:t>
            </a:r>
            <a:r>
              <a:rPr lang="es-ES" dirty="0">
                <a:hlinkClick r:id="rId3"/>
              </a:rPr>
              <a:t>lawebdelprogramador.com</a:t>
            </a:r>
            <a:endParaRPr lang="es-ES" dirty="0"/>
          </a:p>
          <a:p>
            <a:r>
              <a:rPr lang="es-ES" dirty="0"/>
              <a:t>Cuenta con foros dedicados a múltiples lenguajes y tecnologías, incluyendo una sección muy activa de </a:t>
            </a:r>
            <a:r>
              <a:rPr lang="es-ES" b="1" dirty="0"/>
              <a:t>JavaScript</a:t>
            </a:r>
            <a:r>
              <a:rPr lang="es-ES" dirty="0"/>
              <a:t> para preguntas y respuestas.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36274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24C03-9302-CAF1-5992-860018136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BE9CE-571E-D983-9317-6CA536F97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Foros en español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CEA9A-F8D3-8B0C-5263-2A43E81B6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b="1" dirty="0" err="1"/>
              <a:t>Stack</a:t>
            </a:r>
            <a:r>
              <a:rPr lang="es-ES" b="1" dirty="0"/>
              <a:t> </a:t>
            </a:r>
            <a:r>
              <a:rPr lang="es-ES" b="1" dirty="0" err="1"/>
              <a:t>Overflow</a:t>
            </a:r>
            <a:r>
              <a:rPr lang="es-ES" b="1" dirty="0"/>
              <a:t> en español</a:t>
            </a:r>
            <a:r>
              <a:rPr lang="es-ES" dirty="0"/>
              <a:t> – Versión en español del mayor sitio de preguntas y respuestas para programadores. Está orientado a resolver dudas de desarrollo de software de todo nivel, desde principiantes hasta profesionales ​ </a:t>
            </a:r>
            <a:r>
              <a:rPr lang="es-ES" dirty="0">
                <a:hlinkClick r:id="rId3"/>
              </a:rPr>
              <a:t>es.stackoverflow.com/</a:t>
            </a:r>
            <a:endParaRPr lang="es-ES" dirty="0"/>
          </a:p>
          <a:p>
            <a:r>
              <a:rPr lang="es-ES" dirty="0"/>
              <a:t>Los usuarios hispanohablantes pueden consultar y responder preguntas sobre </a:t>
            </a:r>
            <a:r>
              <a:rPr lang="es-ES" b="1" dirty="0"/>
              <a:t>JavaScript</a:t>
            </a:r>
            <a:r>
              <a:rPr lang="es-ES" dirty="0"/>
              <a:t> (y cualquier tecnología relacionada) en su idioma nativo​.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2594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C70CF-AE58-3EB3-412E-8E1FCA9B5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CD382-8CAA-CF30-3A9D-5B1D773B1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Foros en español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E13CF-0960-3802-31D6-CB00F02FF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b="1" dirty="0"/>
              <a:t>Foro en español de </a:t>
            </a:r>
            <a:r>
              <a:rPr lang="es-ES" b="1" dirty="0" err="1"/>
              <a:t>freeCodeCamp</a:t>
            </a:r>
            <a:r>
              <a:rPr lang="es-ES" dirty="0"/>
              <a:t> – Comunidad educativa para quienes están aprendiendo a programar. Dispone de una sección dedicada a </a:t>
            </a:r>
            <a:r>
              <a:rPr lang="es-ES" b="1" dirty="0"/>
              <a:t>JavaScript</a:t>
            </a:r>
            <a:r>
              <a:rPr lang="es-ES" dirty="0"/>
              <a:t> donde los miembros pueden hacer preguntas y obtener ayuda con la programación en español ​</a:t>
            </a:r>
            <a:r>
              <a:rPr lang="es-ES" dirty="0">
                <a:hlinkClick r:id="rId3"/>
              </a:rPr>
              <a:t>forum.freecodecamp.org</a:t>
            </a:r>
            <a:endParaRPr lang="es-ES" dirty="0"/>
          </a:p>
          <a:p>
            <a:r>
              <a:rPr lang="es-ES" dirty="0"/>
              <a:t>Es un entorno amigable para principiantes, respaldado por la organización </a:t>
            </a:r>
            <a:r>
              <a:rPr lang="es-ES" dirty="0" err="1"/>
              <a:t>freeCodeCamp</a:t>
            </a:r>
            <a:r>
              <a:rPr lang="es-ES" dirty="0"/>
              <a:t>, e incluye discusiones sobre librerías y </a:t>
            </a:r>
            <a:r>
              <a:rPr lang="es-ES" i="1" dirty="0" err="1"/>
              <a:t>frameworks</a:t>
            </a:r>
            <a:r>
              <a:rPr lang="es-ES" dirty="0"/>
              <a:t> comunes del ecosistema JavaScript.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7875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B5DD0-0DDD-5A33-41D4-F4AC791A2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0CD5F-FBBB-214E-7F02-2AA082BAB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Foros en inglés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97631-C69D-03BB-7776-B61BE541F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b="0" i="0" u="none" strike="noStrike" dirty="0" err="1">
                <a:solidFill>
                  <a:srgbClr val="231F20"/>
                </a:solidFill>
                <a:effectLst/>
                <a:latin typeface="Roboto" panose="02000000000000000000" pitchFamily="2" charset="0"/>
                <a:hlinkClick r:id="rId3"/>
              </a:rPr>
              <a:t>Stack</a:t>
            </a:r>
            <a:r>
              <a:rPr lang="es-ES" b="0" i="0" u="none" strike="noStrike" dirty="0">
                <a:solidFill>
                  <a:srgbClr val="231F20"/>
                </a:solidFill>
                <a:effectLst/>
                <a:latin typeface="Roboto" panose="02000000000000000000" pitchFamily="2" charset="0"/>
                <a:hlinkClick r:id="rId3"/>
              </a:rPr>
              <a:t> </a:t>
            </a:r>
            <a:r>
              <a:rPr lang="es-ES" b="0" i="0" u="none" strike="noStrike" dirty="0" err="1">
                <a:solidFill>
                  <a:srgbClr val="231F20"/>
                </a:solidFill>
                <a:effectLst/>
                <a:latin typeface="Roboto" panose="02000000000000000000" pitchFamily="2" charset="0"/>
                <a:hlinkClick r:id="rId3"/>
              </a:rPr>
              <a:t>Overflow</a:t>
            </a:r>
            <a:r>
              <a:rPr lang="es-ES" b="0" i="0" u="none" strike="noStrike" dirty="0">
                <a:solidFill>
                  <a:srgbClr val="FF5900"/>
                </a:solidFill>
                <a:effectLst/>
                <a:latin typeface="Roboto" panose="02000000000000000000" pitchFamily="2" charset="0"/>
                <a:hlinkClick r:id="rId3"/>
              </a:rPr>
              <a:t>:</a:t>
            </a:r>
            <a:r>
              <a:rPr lang="es-ES" b="0" i="0" dirty="0">
                <a:solidFill>
                  <a:srgbClr val="FF5900"/>
                </a:solidFill>
                <a:effectLst/>
                <a:latin typeface="Roboto" panose="02000000000000000000" pitchFamily="2" charset="0"/>
              </a:rPr>
              <a:t> </a:t>
            </a:r>
            <a:r>
              <a:rPr lang="es-ES" b="0" i="0" dirty="0">
                <a:solidFill>
                  <a:srgbClr val="231F20"/>
                </a:solidFill>
                <a:effectLst/>
                <a:latin typeface="Roboto" panose="02000000000000000000" pitchFamily="2" charset="0"/>
              </a:rPr>
              <a:t>Es la comunidad en línea más grande y confiable para que los desarrolladores aprendan, compartan sus conocimientos de programación y desarrollen sus carreras. Es un sitio de preguntas y respuestas para los aficionados de la programación que también cuenta con una sección de empleos.</a:t>
            </a:r>
            <a:br>
              <a:rPr lang="es-ES" b="0" i="0" dirty="0">
                <a:solidFill>
                  <a:srgbClr val="231F20"/>
                </a:solidFill>
                <a:effectLst/>
                <a:latin typeface="Roboto" panose="02000000000000000000" pitchFamily="2" charset="0"/>
              </a:rPr>
            </a:br>
            <a:br>
              <a:rPr lang="es-ES" b="0" i="0" dirty="0">
                <a:solidFill>
                  <a:srgbClr val="231F20"/>
                </a:solidFill>
                <a:effectLst/>
                <a:latin typeface="Roboto" panose="02000000000000000000" pitchFamily="2" charset="0"/>
              </a:rPr>
            </a:br>
            <a:endParaRPr lang="es-ES" b="0" i="0" dirty="0">
              <a:solidFill>
                <a:srgbClr val="231F20"/>
              </a:solidFill>
              <a:effectLst/>
              <a:latin typeface="Roboto" panose="020000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231F20"/>
                </a:solidFill>
                <a:effectLst/>
                <a:latin typeface="Roboto" panose="02000000000000000000" pitchFamily="2" charset="0"/>
                <a:hlinkClick r:id="rId4"/>
              </a:rPr>
              <a:t>Reddit: </a:t>
            </a:r>
            <a:r>
              <a:rPr lang="es-ES" b="0" i="0" dirty="0">
                <a:solidFill>
                  <a:srgbClr val="231F20"/>
                </a:solidFill>
                <a:effectLst/>
                <a:latin typeface="Roboto" panose="02000000000000000000" pitchFamily="2" charset="0"/>
              </a:rPr>
              <a:t>Es una red de comunidades donde las personas pueden sumergirse en sus intereses, pasatiempos y pasiones. Hay una comunidad de programación para que aprendas todo sobre código, el desarrollo web, motores de videojuegos y aplicaciones. Aquí encontrarás tutoriales y publicaciones sobre cualquier tema de programación.</a:t>
            </a:r>
            <a:br>
              <a:rPr lang="es-ES" b="0" i="0" dirty="0">
                <a:solidFill>
                  <a:srgbClr val="231F20"/>
                </a:solidFill>
                <a:effectLst/>
                <a:latin typeface="Roboto" panose="02000000000000000000" pitchFamily="2" charset="0"/>
              </a:rPr>
            </a:br>
            <a:br>
              <a:rPr lang="es-ES" b="0" i="0" dirty="0">
                <a:solidFill>
                  <a:srgbClr val="231F20"/>
                </a:solidFill>
                <a:effectLst/>
                <a:latin typeface="Roboto" panose="02000000000000000000" pitchFamily="2" charset="0"/>
              </a:rPr>
            </a:br>
            <a:endParaRPr lang="es-ES" b="0" i="0" dirty="0">
              <a:solidFill>
                <a:srgbClr val="231F20"/>
              </a:solidFill>
              <a:effectLst/>
              <a:latin typeface="Roboto" panose="020000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b="0" i="0" u="none" strike="noStrike" dirty="0" err="1">
                <a:solidFill>
                  <a:srgbClr val="231F20"/>
                </a:solidFill>
                <a:effectLst/>
                <a:latin typeface="Roboto" panose="02000000000000000000" pitchFamily="2" charset="0"/>
                <a:hlinkClick r:id="rId5"/>
              </a:rPr>
              <a:t>S</a:t>
            </a:r>
            <a:r>
              <a:rPr lang="es-ES" b="0" i="0" u="none" strike="noStrike" dirty="0" err="1">
                <a:solidFill>
                  <a:srgbClr val="FF5900"/>
                </a:solidFill>
                <a:effectLst/>
                <a:latin typeface="Roboto" panose="02000000000000000000" pitchFamily="2" charset="0"/>
                <a:hlinkClick r:id="rId5"/>
              </a:rPr>
              <a:t>itePoint</a:t>
            </a:r>
            <a:r>
              <a:rPr lang="es-ES" b="0" i="0" dirty="0">
                <a:solidFill>
                  <a:srgbClr val="FF5900"/>
                </a:solidFill>
                <a:effectLst/>
                <a:latin typeface="Roboto" panose="02000000000000000000" pitchFamily="2" charset="0"/>
              </a:rPr>
              <a:t>: </a:t>
            </a:r>
            <a:r>
              <a:rPr lang="es-ES" b="0" i="0" dirty="0">
                <a:solidFill>
                  <a:srgbClr val="231F20"/>
                </a:solidFill>
                <a:effectLst/>
                <a:latin typeface="Roboto" panose="02000000000000000000" pitchFamily="2" charset="0"/>
              </a:rPr>
              <a:t>Es un sitio web que funciona como un editor de libros, cursos y artículos para desarrolladores web pero también cuenta con un gran número de grupos online sobre temas tecnológicos específicos. Aquí podrás encontrar respuesta a tus preguntas, ya que está enfocado en orientar a principiantes en desarrollo web, diseño web, </a:t>
            </a:r>
            <a:r>
              <a:rPr lang="es-ES" b="0" i="0" dirty="0" err="1">
                <a:solidFill>
                  <a:srgbClr val="231F20"/>
                </a:solidFill>
                <a:effectLst/>
                <a:latin typeface="Roboto" panose="02000000000000000000" pitchFamily="2" charset="0"/>
              </a:rPr>
              <a:t>copywriting</a:t>
            </a:r>
            <a:r>
              <a:rPr lang="es-ES" b="0" i="0" dirty="0">
                <a:solidFill>
                  <a:srgbClr val="231F20"/>
                </a:solidFill>
                <a:effectLst/>
                <a:latin typeface="Roboto" panose="02000000000000000000" pitchFamily="2" charset="0"/>
              </a:rPr>
              <a:t>, entre otros temas.</a:t>
            </a:r>
          </a:p>
        </p:txBody>
      </p:sp>
    </p:spTree>
    <p:extLst>
      <p:ext uri="{BB962C8B-B14F-4D97-AF65-F5344CB8AC3E}">
        <p14:creationId xmlns:p14="http://schemas.microsoft.com/office/powerpoint/2010/main" val="1745793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Técnicas de Búsqueda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Optimizar</a:t>
            </a:r>
            <a:r>
              <a:rPr dirty="0"/>
              <a:t> </a:t>
            </a:r>
            <a:r>
              <a:rPr dirty="0" err="1"/>
              <a:t>búsquedas</a:t>
            </a:r>
            <a:r>
              <a:rPr dirty="0"/>
              <a:t>:</a:t>
            </a:r>
          </a:p>
          <a:p>
            <a:pPr lvl="1">
              <a:buFont typeface="Courier New"/>
              <a:buChar char="o"/>
            </a:pPr>
            <a:r>
              <a:rPr dirty="0" err="1"/>
              <a:t>Operadores</a:t>
            </a:r>
            <a:r>
              <a:rPr dirty="0"/>
              <a:t> </a:t>
            </a:r>
            <a:r>
              <a:rPr dirty="0" err="1"/>
              <a:t>booleanos</a:t>
            </a:r>
            <a:r>
              <a:rPr dirty="0"/>
              <a:t>: AND, OR, NOT.</a:t>
            </a:r>
          </a:p>
          <a:p>
            <a:pPr lvl="1">
              <a:buFont typeface="Courier New"/>
              <a:buChar char="o"/>
            </a:pPr>
            <a:r>
              <a:t>Uso</a:t>
            </a:r>
            <a:r>
              <a:rPr dirty="0"/>
              <a:t> de </a:t>
            </a:r>
            <a:r>
              <a:rPr err="1"/>
              <a:t>comillas</a:t>
            </a:r>
            <a:r>
              <a:rPr dirty="0"/>
              <a:t> para </a:t>
            </a:r>
            <a:r>
              <a:rPr err="1"/>
              <a:t>frases</a:t>
            </a:r>
            <a:r>
              <a:rPr dirty="0"/>
              <a:t> exactas.</a:t>
            </a:r>
          </a:p>
          <a:p>
            <a:pPr lvl="1">
              <a:buFont typeface="Courier New"/>
              <a:buChar char="o"/>
            </a:pPr>
            <a:r>
              <a:rPr dirty="0" err="1"/>
              <a:t>Filtros</a:t>
            </a:r>
            <a:r>
              <a:rPr dirty="0"/>
              <a:t> </a:t>
            </a:r>
            <a:r>
              <a:rPr dirty="0" err="1"/>
              <a:t>avanzados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Google.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12123" y="5662246"/>
            <a:ext cx="7315200" cy="615553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sz="1800" dirty="0" err="1"/>
              <a:t>Ejemplos</a:t>
            </a:r>
            <a:r>
              <a:rPr sz="1800" dirty="0"/>
              <a:t>:</a:t>
            </a:r>
          </a:p>
          <a:p>
            <a:pPr lvl="1">
              <a:defRPr sz="1600"/>
            </a:pPr>
            <a:r>
              <a:rPr sz="1600" err="1"/>
              <a:t>site:mdn.mozilla.org</a:t>
            </a:r>
            <a:r>
              <a:rPr sz="1600" dirty="0"/>
              <a:t> 'form validation script'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Reutilización de Scripts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Generalizar</a:t>
            </a:r>
            <a:r>
              <a:rPr dirty="0"/>
              <a:t> scripts para </a:t>
            </a:r>
            <a:r>
              <a:rPr dirty="0" err="1"/>
              <a:t>múltiples</a:t>
            </a:r>
            <a:r>
              <a:rPr dirty="0"/>
              <a:t> </a:t>
            </a:r>
            <a:r>
              <a:rPr dirty="0" err="1"/>
              <a:t>proyectos</a:t>
            </a:r>
            <a:r>
              <a:rPr dirty="0"/>
              <a:t>.</a:t>
            </a:r>
          </a:p>
          <a:p>
            <a:pPr lvl="1">
              <a:buFont typeface="Courier New"/>
              <a:buChar char="o"/>
            </a:pPr>
            <a:r>
              <a:rPr dirty="0" err="1"/>
              <a:t>Editar</a:t>
            </a:r>
            <a:r>
              <a:rPr dirty="0"/>
              <a:t> scripts </a:t>
            </a:r>
            <a:r>
              <a:rPr dirty="0" err="1"/>
              <a:t>existentes</a:t>
            </a:r>
            <a:r>
              <a:rPr dirty="0"/>
              <a:t>.</a:t>
            </a:r>
          </a:p>
          <a:p>
            <a:pPr lvl="1">
              <a:buFont typeface="Courier New"/>
              <a:buChar char="o"/>
            </a:pPr>
            <a:r>
              <a:t>Modularizar</a:t>
            </a:r>
            <a:r>
              <a:rPr dirty="0"/>
              <a:t> </a:t>
            </a:r>
            <a:r>
              <a:rPr err="1"/>
              <a:t>código</a:t>
            </a:r>
            <a:r>
              <a:rPr dirty="0"/>
              <a:t>.</a:t>
            </a:r>
          </a:p>
          <a:p>
            <a:pPr lvl="1">
              <a:buFont typeface="Courier New"/>
              <a:buChar char="o"/>
            </a:pPr>
            <a:r>
              <a:rPr dirty="0" err="1"/>
              <a:t>Citar</a:t>
            </a:r>
            <a:r>
              <a:rPr dirty="0"/>
              <a:t> </a:t>
            </a:r>
            <a:r>
              <a:rPr dirty="0" err="1"/>
              <a:t>fuentes</a:t>
            </a:r>
            <a:r>
              <a:rPr dirty="0"/>
              <a:t> al </a:t>
            </a:r>
            <a:r>
              <a:rPr dirty="0" err="1"/>
              <a:t>reutilizar</a:t>
            </a:r>
            <a:r>
              <a:rPr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6985" y="5580185"/>
            <a:ext cx="7315200" cy="615553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sz="1800" dirty="0" err="1"/>
              <a:t>Ejemplos</a:t>
            </a:r>
            <a:r>
              <a:rPr sz="1800" dirty="0"/>
              <a:t>:</a:t>
            </a:r>
          </a:p>
          <a:p>
            <a:pPr lvl="1">
              <a:defRPr sz="1600"/>
            </a:pPr>
            <a:r>
              <a:rPr sz="1600" dirty="0"/>
              <a:t>Script de </a:t>
            </a:r>
            <a:r>
              <a:rPr sz="1600" err="1"/>
              <a:t>validación</a:t>
            </a:r>
            <a:r>
              <a:rPr sz="1600" dirty="0"/>
              <a:t> </a:t>
            </a:r>
            <a:r>
              <a:rPr sz="1600" err="1"/>
              <a:t>modificado</a:t>
            </a:r>
            <a:r>
              <a:rPr sz="1600" dirty="0"/>
              <a:t> para </a:t>
            </a:r>
            <a:r>
              <a:rPr sz="1600" err="1"/>
              <a:t>distintos</a:t>
            </a:r>
            <a:r>
              <a:rPr sz="1600" dirty="0"/>
              <a:t> </a:t>
            </a:r>
            <a:r>
              <a:rPr sz="1600" err="1"/>
              <a:t>formularios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428F22-76B3-4107-AADE-3F9EC95FD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346FBCF-5353-4172-96F5-4B7EB0777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90265" y="-12875"/>
            <a:ext cx="2604396" cy="6890194"/>
            <a:chOff x="2199787" y="-12875"/>
            <a:chExt cx="2679011" cy="6890194"/>
          </a:xfrm>
        </p:grpSpPr>
        <p:sp useBgFill="1">
          <p:nvSpPr>
            <p:cNvPr id="12" name="Rectangle 19">
              <a:extLst>
                <a:ext uri="{FF2B5EF4-FFF2-40B4-BE49-F238E27FC236}">
                  <a16:creationId xmlns:a16="http://schemas.microsoft.com/office/drawing/2014/main" id="{343F3E6D-808D-43AD-9485-AD0014BEAE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199787" y="-12875"/>
              <a:ext cx="2679011" cy="5301468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  <a:gd name="connsiteX0" fmla="*/ 650979 w 2587151"/>
                <a:gd name="connsiteY0" fmla="*/ 0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650979 w 2587151"/>
                <a:gd name="connsiteY4" fmla="*/ 0 h 2554287"/>
                <a:gd name="connsiteX0" fmla="*/ 730379 w 2587151"/>
                <a:gd name="connsiteY0" fmla="*/ 5692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730379 w 2587151"/>
                <a:gd name="connsiteY4" fmla="*/ 5692 h 2554287"/>
                <a:gd name="connsiteX0" fmla="*/ 864750 w 2587151"/>
                <a:gd name="connsiteY0" fmla="*/ 2847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64750 w 2587151"/>
                <a:gd name="connsiteY4" fmla="*/ 2847 h 2554287"/>
                <a:gd name="connsiteX0" fmla="*/ 883073 w 2587151"/>
                <a:gd name="connsiteY0" fmla="*/ 1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83073 w 2587151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5750 h 2565670"/>
                <a:gd name="connsiteX4" fmla="*/ 895288 w 2611581"/>
                <a:gd name="connsiteY4" fmla="*/ 1 h 2565670"/>
                <a:gd name="connsiteX0" fmla="*/ 1544433 w 3260726"/>
                <a:gd name="connsiteY0" fmla="*/ 1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1544433 w 3260726"/>
                <a:gd name="connsiteY4" fmla="*/ 1 h 2565670"/>
                <a:gd name="connsiteX0" fmla="*/ 921784 w 3260726"/>
                <a:gd name="connsiteY0" fmla="*/ 12347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3260726"/>
                <a:gd name="connsiteY0" fmla="*/ 12347 h 2565670"/>
                <a:gd name="connsiteX1" fmla="*/ 2321160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2322228"/>
                <a:gd name="connsiteY0" fmla="*/ 12347 h 2565670"/>
                <a:gd name="connsiteX1" fmla="*/ 2321160 w 2322228"/>
                <a:gd name="connsiteY1" fmla="*/ 0 h 2565670"/>
                <a:gd name="connsiteX2" fmla="*/ 2320129 w 2322228"/>
                <a:gd name="connsiteY2" fmla="*/ 2565670 h 2565670"/>
                <a:gd name="connsiteX3" fmla="*/ 0 w 2322228"/>
                <a:gd name="connsiteY3" fmla="*/ 2521058 h 2565670"/>
                <a:gd name="connsiteX4" fmla="*/ 921784 w 2322228"/>
                <a:gd name="connsiteY4" fmla="*/ 12347 h 2565670"/>
                <a:gd name="connsiteX0" fmla="*/ 921784 w 2322228"/>
                <a:gd name="connsiteY0" fmla="*/ 0 h 2571841"/>
                <a:gd name="connsiteX1" fmla="*/ 2321160 w 2322228"/>
                <a:gd name="connsiteY1" fmla="*/ 6171 h 2571841"/>
                <a:gd name="connsiteX2" fmla="*/ 2320129 w 2322228"/>
                <a:gd name="connsiteY2" fmla="*/ 2571841 h 2571841"/>
                <a:gd name="connsiteX3" fmla="*/ 0 w 2322228"/>
                <a:gd name="connsiteY3" fmla="*/ 2527229 h 2571841"/>
                <a:gd name="connsiteX4" fmla="*/ 921784 w 2322228"/>
                <a:gd name="connsiteY4" fmla="*/ 0 h 2571841"/>
                <a:gd name="connsiteX0" fmla="*/ 921784 w 2611583"/>
                <a:gd name="connsiteY0" fmla="*/ 0 h 2540977"/>
                <a:gd name="connsiteX1" fmla="*/ 2321160 w 2611583"/>
                <a:gd name="connsiteY1" fmla="*/ 6171 h 2540977"/>
                <a:gd name="connsiteX2" fmla="*/ 2611583 w 2611583"/>
                <a:gd name="connsiteY2" fmla="*/ 2540977 h 2540977"/>
                <a:gd name="connsiteX3" fmla="*/ 0 w 2611583"/>
                <a:gd name="connsiteY3" fmla="*/ 2527229 h 2540977"/>
                <a:gd name="connsiteX4" fmla="*/ 921784 w 2611583"/>
                <a:gd name="connsiteY4" fmla="*/ 0 h 2540977"/>
                <a:gd name="connsiteX0" fmla="*/ 921784 w 2611583"/>
                <a:gd name="connsiteY0" fmla="*/ 2 h 2540979"/>
                <a:gd name="connsiteX1" fmla="*/ 2572870 w 2611583"/>
                <a:gd name="connsiteY1" fmla="*/ 0 h 2540979"/>
                <a:gd name="connsiteX2" fmla="*/ 2611583 w 2611583"/>
                <a:gd name="connsiteY2" fmla="*/ 2540979 h 2540979"/>
                <a:gd name="connsiteX3" fmla="*/ 0 w 2611583"/>
                <a:gd name="connsiteY3" fmla="*/ 2527231 h 2540979"/>
                <a:gd name="connsiteX4" fmla="*/ 921784 w 2611583"/>
                <a:gd name="connsiteY4" fmla="*/ 2 h 2540979"/>
                <a:gd name="connsiteX0" fmla="*/ 921784 w 2705467"/>
                <a:gd name="connsiteY0" fmla="*/ 0 h 2540977"/>
                <a:gd name="connsiteX1" fmla="*/ 2705349 w 2705467"/>
                <a:gd name="connsiteY1" fmla="*/ 6171 h 2540977"/>
                <a:gd name="connsiteX2" fmla="*/ 2611583 w 2705467"/>
                <a:gd name="connsiteY2" fmla="*/ 2540977 h 2540977"/>
                <a:gd name="connsiteX3" fmla="*/ 0 w 2705467"/>
                <a:gd name="connsiteY3" fmla="*/ 2527229 h 2540977"/>
                <a:gd name="connsiteX4" fmla="*/ 921784 w 2705467"/>
                <a:gd name="connsiteY4" fmla="*/ 0 h 2540977"/>
                <a:gd name="connsiteX0" fmla="*/ 921784 w 2718702"/>
                <a:gd name="connsiteY0" fmla="*/ 2 h 2540979"/>
                <a:gd name="connsiteX1" fmla="*/ 2718597 w 2718702"/>
                <a:gd name="connsiteY1" fmla="*/ 0 h 2540979"/>
                <a:gd name="connsiteX2" fmla="*/ 2611583 w 2718702"/>
                <a:gd name="connsiteY2" fmla="*/ 2540979 h 2540979"/>
                <a:gd name="connsiteX3" fmla="*/ 0 w 2718702"/>
                <a:gd name="connsiteY3" fmla="*/ 2527231 h 2540979"/>
                <a:gd name="connsiteX4" fmla="*/ 921784 w 2718702"/>
                <a:gd name="connsiteY4" fmla="*/ 2 h 2540979"/>
                <a:gd name="connsiteX0" fmla="*/ 921784 w 2679012"/>
                <a:gd name="connsiteY0" fmla="*/ 0 h 2540977"/>
                <a:gd name="connsiteX1" fmla="*/ 2678853 w 2679012"/>
                <a:gd name="connsiteY1" fmla="*/ 6171 h 2540977"/>
                <a:gd name="connsiteX2" fmla="*/ 2611583 w 2679012"/>
                <a:gd name="connsiteY2" fmla="*/ 2540977 h 2540977"/>
                <a:gd name="connsiteX3" fmla="*/ 0 w 2679012"/>
                <a:gd name="connsiteY3" fmla="*/ 2527229 h 2540977"/>
                <a:gd name="connsiteX4" fmla="*/ 921784 w 2679012"/>
                <a:gd name="connsiteY4" fmla="*/ 0 h 254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9012" h="2540977">
                  <a:moveTo>
                    <a:pt x="921784" y="0"/>
                  </a:moveTo>
                  <a:lnTo>
                    <a:pt x="2678853" y="6171"/>
                  </a:lnTo>
                  <a:cubicBezTo>
                    <a:pt x="2682925" y="861394"/>
                    <a:pt x="2607511" y="1685754"/>
                    <a:pt x="2611583" y="2540977"/>
                  </a:cubicBezTo>
                  <a:lnTo>
                    <a:pt x="0" y="2527229"/>
                  </a:lnTo>
                  <a:lnTo>
                    <a:pt x="921784" y="0"/>
                  </a:lnTo>
                  <a:close/>
                </a:path>
              </a:pathLst>
            </a:custGeom>
            <a:blipFill rotWithShape="0">
              <a:blip r:embed="rId3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14598" r="-265621" b="-28686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3" name="Rectangle 20">
              <a:extLst>
                <a:ext uri="{FF2B5EF4-FFF2-40B4-BE49-F238E27FC236}">
                  <a16:creationId xmlns:a16="http://schemas.microsoft.com/office/drawing/2014/main" id="{03DB1AC6-5430-4CD3-BD83-86E675A11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211875" y="5257482"/>
              <a:ext cx="2586931" cy="1619837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81054 w 2720934"/>
                <a:gd name="connsiteY3" fmla="*/ 3638695 h 4303713"/>
                <a:gd name="connsiteX4" fmla="*/ 0 w 2720934"/>
                <a:gd name="connsiteY4" fmla="*/ 268283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64231 w 2720934"/>
                <a:gd name="connsiteY3" fmla="*/ 3717600 h 4303713"/>
                <a:gd name="connsiteX4" fmla="*/ 0 w 2720934"/>
                <a:gd name="connsiteY4" fmla="*/ 268283 h 4303713"/>
                <a:gd name="connsiteX0" fmla="*/ 0 w 2720934"/>
                <a:gd name="connsiteY0" fmla="*/ 268283 h 4335275"/>
                <a:gd name="connsiteX1" fmla="*/ 2720934 w 2720934"/>
                <a:gd name="connsiteY1" fmla="*/ 0 h 4335275"/>
                <a:gd name="connsiteX2" fmla="*/ 2653639 w 2720934"/>
                <a:gd name="connsiteY2" fmla="*/ 4335275 h 4335275"/>
                <a:gd name="connsiteX3" fmla="*/ 2264231 w 2720934"/>
                <a:gd name="connsiteY3" fmla="*/ 3717600 h 4335275"/>
                <a:gd name="connsiteX4" fmla="*/ 0 w 2720934"/>
                <a:gd name="connsiteY4" fmla="*/ 268283 h 4335275"/>
                <a:gd name="connsiteX0" fmla="*/ 0 w 2737757"/>
                <a:gd name="connsiteY0" fmla="*/ 236721 h 4335275"/>
                <a:gd name="connsiteX1" fmla="*/ 2737757 w 2737757"/>
                <a:gd name="connsiteY1" fmla="*/ 0 h 4335275"/>
                <a:gd name="connsiteX2" fmla="*/ 2670462 w 2737757"/>
                <a:gd name="connsiteY2" fmla="*/ 4335275 h 4335275"/>
                <a:gd name="connsiteX3" fmla="*/ 2281054 w 2737757"/>
                <a:gd name="connsiteY3" fmla="*/ 3717600 h 4335275"/>
                <a:gd name="connsiteX4" fmla="*/ 0 w 2737757"/>
                <a:gd name="connsiteY4" fmla="*/ 236721 h 4335275"/>
                <a:gd name="connsiteX0" fmla="*/ 0 w 2729346"/>
                <a:gd name="connsiteY0" fmla="*/ 0 h 4098554"/>
                <a:gd name="connsiteX1" fmla="*/ 2729346 w 2729346"/>
                <a:gd name="connsiteY1" fmla="*/ 126250 h 4098554"/>
                <a:gd name="connsiteX2" fmla="*/ 2670462 w 2729346"/>
                <a:gd name="connsiteY2" fmla="*/ 4098554 h 4098554"/>
                <a:gd name="connsiteX3" fmla="*/ 2281054 w 2729346"/>
                <a:gd name="connsiteY3" fmla="*/ 3480879 h 4098554"/>
                <a:gd name="connsiteX4" fmla="*/ 0 w 2729346"/>
                <a:gd name="connsiteY4" fmla="*/ 0 h 4098554"/>
                <a:gd name="connsiteX0" fmla="*/ 0 w 2720934"/>
                <a:gd name="connsiteY0" fmla="*/ 0 h 4098554"/>
                <a:gd name="connsiteX1" fmla="*/ 2720934 w 2720934"/>
                <a:gd name="connsiteY1" fmla="*/ 31562 h 4098554"/>
                <a:gd name="connsiteX2" fmla="*/ 2670462 w 2720934"/>
                <a:gd name="connsiteY2" fmla="*/ 4098554 h 4098554"/>
                <a:gd name="connsiteX3" fmla="*/ 2281054 w 2720934"/>
                <a:gd name="connsiteY3" fmla="*/ 3480879 h 4098554"/>
                <a:gd name="connsiteX4" fmla="*/ 0 w 2720934"/>
                <a:gd name="connsiteY4" fmla="*/ 0 h 4098554"/>
                <a:gd name="connsiteX0" fmla="*/ 0 w 2720934"/>
                <a:gd name="connsiteY0" fmla="*/ 15782 h 4114336"/>
                <a:gd name="connsiteX1" fmla="*/ 2720934 w 2720934"/>
                <a:gd name="connsiteY1" fmla="*/ 0 h 4114336"/>
                <a:gd name="connsiteX2" fmla="*/ 2670462 w 2720934"/>
                <a:gd name="connsiteY2" fmla="*/ 4114336 h 4114336"/>
                <a:gd name="connsiteX3" fmla="*/ 2281054 w 2720934"/>
                <a:gd name="connsiteY3" fmla="*/ 3496661 h 4114336"/>
                <a:gd name="connsiteX4" fmla="*/ 0 w 2720934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80409 w 2820289"/>
                <a:gd name="connsiteY3" fmla="*/ 3496661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3972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3721149"/>
                <a:gd name="connsiteY0" fmla="*/ 0 h 4269703"/>
                <a:gd name="connsiteX1" fmla="*/ 3721149 w 3721149"/>
                <a:gd name="connsiteY1" fmla="*/ 155367 h 4269703"/>
                <a:gd name="connsiteX2" fmla="*/ 3664832 w 3721149"/>
                <a:gd name="connsiteY2" fmla="*/ 4269703 h 4269703"/>
                <a:gd name="connsiteX3" fmla="*/ 3263736 w 3721149"/>
                <a:gd name="connsiteY3" fmla="*/ 3673347 h 4269703"/>
                <a:gd name="connsiteX4" fmla="*/ 0 w 3721149"/>
                <a:gd name="connsiteY4" fmla="*/ 0 h 4269703"/>
                <a:gd name="connsiteX0" fmla="*/ 0 w 3721149"/>
                <a:gd name="connsiteY0" fmla="*/ 0 h 4289488"/>
                <a:gd name="connsiteX1" fmla="*/ 3721149 w 3721149"/>
                <a:gd name="connsiteY1" fmla="*/ 155367 h 4289488"/>
                <a:gd name="connsiteX2" fmla="*/ 3664832 w 3721149"/>
                <a:gd name="connsiteY2" fmla="*/ 4269703 h 4289488"/>
                <a:gd name="connsiteX3" fmla="*/ 1705997 w 3721149"/>
                <a:gd name="connsiteY3" fmla="*/ 4289488 h 4289488"/>
                <a:gd name="connsiteX4" fmla="*/ 0 w 3721149"/>
                <a:gd name="connsiteY4" fmla="*/ 0 h 4289488"/>
                <a:gd name="connsiteX0" fmla="*/ 0 w 3664846"/>
                <a:gd name="connsiteY0" fmla="*/ 15785 h 4305273"/>
                <a:gd name="connsiteX1" fmla="*/ 3664846 w 3664846"/>
                <a:gd name="connsiteY1" fmla="*/ 0 h 4305273"/>
                <a:gd name="connsiteX2" fmla="*/ 3664832 w 3664846"/>
                <a:gd name="connsiteY2" fmla="*/ 4285488 h 4305273"/>
                <a:gd name="connsiteX3" fmla="*/ 1705997 w 3664846"/>
                <a:gd name="connsiteY3" fmla="*/ 4305273 h 4305273"/>
                <a:gd name="connsiteX4" fmla="*/ 0 w 3664846"/>
                <a:gd name="connsiteY4" fmla="*/ 15785 h 4305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4846" h="4305273">
                  <a:moveTo>
                    <a:pt x="0" y="15785"/>
                  </a:moveTo>
                  <a:lnTo>
                    <a:pt x="3664846" y="0"/>
                  </a:lnTo>
                  <a:cubicBezTo>
                    <a:pt x="3664841" y="1428496"/>
                    <a:pt x="3664837" y="2856992"/>
                    <a:pt x="3664832" y="4285488"/>
                  </a:cubicBezTo>
                  <a:lnTo>
                    <a:pt x="1705997" y="4305273"/>
                  </a:lnTo>
                  <a:lnTo>
                    <a:pt x="0" y="15785"/>
                  </a:lnTo>
                  <a:close/>
                </a:path>
              </a:pathLst>
            </a:custGeom>
            <a:blipFill rotWithShape="0">
              <a:blip r:embed="rId3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63116" t="-323529" r="-398251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326E10-C8CB-487F-A110-F861268DE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60612" y="0"/>
            <a:ext cx="2436813" cy="6858001"/>
            <a:chOff x="1320800" y="0"/>
            <a:chExt cx="2436813" cy="6858001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279962B-46D2-4E19-B632-39B80D1E8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21A335A-53CB-4C17-AB51-5D9C2DCB4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A0E0D557-405B-469F-AEDE-4E3404AA4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D8D4E62F-9393-40A6-9E85-9F3B59C4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FABD11B1-DE89-45BC-8204-968C88AAD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AFA4965A-1FBC-44B8-B96A-3F5275C3A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2399" y="685800"/>
            <a:ext cx="7345891" cy="1413933"/>
          </a:xfrm>
        </p:spPr>
        <p:txBody>
          <a:bodyPr>
            <a:normAutofit/>
          </a:bodyPr>
          <a:lstStyle/>
          <a:p>
            <a:r>
              <a:t>Prácticas del Módulo 7</a:t>
            </a:r>
          </a:p>
        </p:txBody>
      </p:sp>
      <p:pic>
        <p:nvPicPr>
          <p:cNvPr id="5" name="Picture 4" descr="Script de ordenador en una pantalla">
            <a:extLst>
              <a:ext uri="{FF2B5EF4-FFF2-40B4-BE49-F238E27FC236}">
                <a16:creationId xmlns:a16="http://schemas.microsoft.com/office/drawing/2014/main" id="{D58CE8B9-5CF0-2AD0-0D88-66E6C98329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700" r="51681" b="-3"/>
          <a:stretch/>
        </p:blipFill>
        <p:spPr>
          <a:xfrm>
            <a:off x="20" y="10"/>
            <a:ext cx="3459143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3867" y="2048933"/>
            <a:ext cx="7659156" cy="3742267"/>
          </a:xfrm>
        </p:spPr>
        <p:txBody>
          <a:bodyPr>
            <a:normAutofit/>
          </a:bodyPr>
          <a:lstStyle/>
          <a:p>
            <a:r>
              <a:rPr dirty="0" err="1"/>
              <a:t>Actividades</a:t>
            </a:r>
            <a:r>
              <a:rPr dirty="0"/>
              <a:t>:</a:t>
            </a:r>
          </a:p>
          <a:p>
            <a:pPr lvl="1">
              <a:buFont typeface="Courier New"/>
              <a:buChar char="o"/>
            </a:pPr>
            <a:r>
              <a:rPr err="1"/>
              <a:t>Buscar</a:t>
            </a:r>
            <a:r>
              <a:rPr dirty="0"/>
              <a:t> scripts para </a:t>
            </a:r>
            <a:r>
              <a:rPr err="1"/>
              <a:t>temporizadores</a:t>
            </a:r>
            <a:r>
              <a:rPr dirty="0"/>
              <a:t>.</a:t>
            </a:r>
          </a:p>
          <a:p>
            <a:pPr lvl="1">
              <a:buFont typeface="Courier New"/>
              <a:buChar char="o"/>
            </a:pPr>
            <a:r>
              <a:rPr err="1"/>
              <a:t>Modificar</a:t>
            </a:r>
            <a:r>
              <a:rPr dirty="0"/>
              <a:t> un script </a:t>
            </a:r>
            <a:r>
              <a:rPr err="1"/>
              <a:t>existente</a:t>
            </a:r>
            <a:r>
              <a:rPr dirty="0"/>
              <a:t>.</a:t>
            </a:r>
          </a:p>
          <a:p>
            <a:pPr lvl="1">
              <a:buFont typeface="Courier New"/>
              <a:buChar char="o"/>
            </a:pPr>
            <a:r>
              <a:rPr err="1"/>
              <a:t>Implementar</a:t>
            </a:r>
            <a:r>
              <a:rPr dirty="0"/>
              <a:t> scripts </a:t>
            </a:r>
            <a:r>
              <a:rPr err="1"/>
              <a:t>en</a:t>
            </a:r>
            <a:r>
              <a:rPr dirty="0"/>
              <a:t> HTML.</a:t>
            </a:r>
          </a:p>
          <a:p>
            <a:pPr lvl="1">
              <a:buFont typeface="Courier New"/>
              <a:buChar char="o"/>
            </a:pPr>
            <a:r>
              <a:rPr dirty="0"/>
              <a:t>Crear </a:t>
            </a:r>
            <a:r>
              <a:rPr err="1"/>
              <a:t>una</a:t>
            </a:r>
            <a:r>
              <a:rPr dirty="0"/>
              <a:t> </a:t>
            </a:r>
            <a:r>
              <a:rPr err="1"/>
              <a:t>biblioteca</a:t>
            </a:r>
            <a:r>
              <a:rPr dirty="0"/>
              <a:t> personal.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606</Words>
  <Application>Microsoft Office PowerPoint</Application>
  <PresentationFormat>Panorámica</PresentationFormat>
  <Paragraphs>52</Paragraphs>
  <Slides>9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Calibri</vt:lpstr>
      <vt:lpstr>Corbel</vt:lpstr>
      <vt:lpstr>Courier New</vt:lpstr>
      <vt:lpstr>Roboto</vt:lpstr>
      <vt:lpstr>Parallax</vt:lpstr>
      <vt:lpstr>Módulo 7: Búsqueda y Análisis de Scripts</vt:lpstr>
      <vt:lpstr>Recursos para Scripting</vt:lpstr>
      <vt:lpstr>Foros en español</vt:lpstr>
      <vt:lpstr>Foros en español</vt:lpstr>
      <vt:lpstr>Foros en español</vt:lpstr>
      <vt:lpstr>Foros en inglés</vt:lpstr>
      <vt:lpstr>Técnicas de Búsqueda</vt:lpstr>
      <vt:lpstr>Reutilización de Scripts</vt:lpstr>
      <vt:lpstr>Prácticas del Módulo 7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Juan Antonio Ferrández Rodríguez</cp:lastModifiedBy>
  <cp:revision>21</cp:revision>
  <dcterms:created xsi:type="dcterms:W3CDTF">2013-01-27T09:14:16Z</dcterms:created>
  <dcterms:modified xsi:type="dcterms:W3CDTF">2025-02-26T11:43:15Z</dcterms:modified>
  <cp:category/>
</cp:coreProperties>
</file>